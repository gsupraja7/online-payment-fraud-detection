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67" r:id="rId2"/>
    <p:sldId id="258" r:id="rId3"/>
    <p:sldId id="257" r:id="rId4"/>
    <p:sldId id="259" r:id="rId5"/>
    <p:sldId id="260" r:id="rId6"/>
    <p:sldId id="261" r:id="rId7"/>
    <p:sldId id="271" r:id="rId8"/>
    <p:sldId id="268" r:id="rId9"/>
    <p:sldId id="270" r:id="rId10"/>
    <p:sldId id="269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D20D6-ACED-45B7-9916-604FD16FEB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8F1A0-3B3D-4877-A39B-31F1DAABE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3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8F1A0-3B3D-4877-A39B-31F1DAABEF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56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8F1A0-3B3D-4877-A39B-31F1DAABEF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4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A6D2EF-7F9F-E26A-3E11-5B6C7A9A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879" y="1200839"/>
            <a:ext cx="11843132" cy="2027103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COLLEGE NAME</a:t>
            </a:r>
            <a:r>
              <a:rPr lang="en-US" dirty="0"/>
              <a:t>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Ashoka Women’s Engineering College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b="1" dirty="0">
                <a:latin typeface="Arial Black" panose="020B0A04020102020204" pitchFamily="34" charset="0"/>
                <a:ea typeface="Cambria" panose="02040503050406030204" pitchFamily="18" charset="0"/>
              </a:rPr>
              <a:t>DEPARTMENT: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and Electrical Engineering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100" b="1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</a:t>
            </a:r>
            <a:r>
              <a:rPr lang="en-US" sz="31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100" b="1" dirty="0">
                <a:solidFill>
                  <a:srgbClr val="C00000"/>
                </a:solidFill>
              </a:rPr>
              <a:t>Online Payments Fraud Detection Using Machine Learning</a:t>
            </a:r>
            <a:br>
              <a:rPr lang="en-US" sz="3100" b="1" dirty="0">
                <a:solidFill>
                  <a:srgbClr val="C00000"/>
                </a:solidFill>
              </a:rPr>
            </a:br>
            <a:br>
              <a:rPr lang="en-US" sz="3100" b="1" dirty="0">
                <a:solidFill>
                  <a:srgbClr val="C00000"/>
                </a:solidFill>
              </a:rPr>
            </a:br>
            <a:r>
              <a:rPr lang="en-US" sz="3100" b="1" dirty="0">
                <a:solidFill>
                  <a:schemeClr val="tx1"/>
                </a:solidFill>
                <a:latin typeface="Arial Black" panose="020B0A04020102020204" pitchFamily="34" charset="0"/>
              </a:rPr>
              <a:t>Submitted by: </a:t>
            </a:r>
            <a:r>
              <a:rPr lang="en-US" sz="3100" b="1" dirty="0">
                <a:solidFill>
                  <a:srgbClr val="00B0F0"/>
                </a:solidFill>
                <a:latin typeface="Arial Black" panose="020B0A04020102020204" pitchFamily="34" charset="0"/>
              </a:rPr>
              <a:t>G. Supraja</a:t>
            </a:r>
            <a:br>
              <a:rPr lang="en-US" sz="3100" b="1" dirty="0">
                <a:solidFill>
                  <a:srgbClr val="00B0F0"/>
                </a:solidFill>
                <a:latin typeface="Arial Black" panose="020B0A04020102020204" pitchFamily="34" charset="0"/>
              </a:rPr>
            </a:br>
            <a:br>
              <a:rPr lang="en-US" sz="3100" b="1" dirty="0">
                <a:solidFill>
                  <a:srgbClr val="00B0F0"/>
                </a:solidFill>
                <a:latin typeface="Arial Black" panose="020B0A04020102020204" pitchFamily="34" charset="0"/>
              </a:rPr>
            </a:br>
            <a:r>
              <a:rPr lang="en-US" sz="3100" b="1" dirty="0">
                <a:solidFill>
                  <a:srgbClr val="00B0F0"/>
                </a:solidFill>
                <a:latin typeface="Arial Black" panose="020B0A04020102020204" pitchFamily="34" charset="0"/>
              </a:rPr>
              <a:t>     </a:t>
            </a:r>
            <a:r>
              <a:rPr lang="en-US" sz="3100" b="1" dirty="0">
                <a:solidFill>
                  <a:schemeClr val="tx1"/>
                </a:solidFill>
                <a:latin typeface="Arial Black" panose="020B0A04020102020204" pitchFamily="34" charset="0"/>
              </a:rPr>
              <a:t>Under the Guidance of: </a:t>
            </a:r>
            <a:r>
              <a:rPr lang="en-US" sz="3100" dirty="0">
                <a:solidFill>
                  <a:srgbClr val="002060"/>
                </a:solidFill>
                <a:latin typeface="Arial Black" panose="020B0A04020102020204" pitchFamily="34" charset="0"/>
              </a:rPr>
              <a:t>Mrs. Hari Priya</a:t>
            </a:r>
            <a:br>
              <a:rPr lang="en-US" sz="31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100" b="1" dirty="0">
                <a:solidFill>
                  <a:schemeClr val="tx1"/>
                </a:solidFill>
                <a:latin typeface="Arial Black" panose="020B0A04020102020204" pitchFamily="34" charset="0"/>
              </a:rPr>
              <a:t>      </a:t>
            </a:r>
            <a:br>
              <a:rPr lang="en-US" sz="31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100" b="1" dirty="0">
                <a:solidFill>
                  <a:schemeClr val="tx1"/>
                </a:solidFill>
                <a:latin typeface="Arial Black" panose="020B0A04020102020204" pitchFamily="34" charset="0"/>
              </a:rPr>
              <a:t>       Academic Year:</a:t>
            </a:r>
            <a:r>
              <a:rPr lang="en-US" sz="3100" dirty="0">
                <a:solidFill>
                  <a:schemeClr val="tx1"/>
                </a:solidFill>
                <a:latin typeface="Arial Black" panose="020B0A04020102020204" pitchFamily="34" charset="0"/>
              </a:rPr>
              <a:t>2025-2026</a:t>
            </a:r>
            <a:br>
              <a:rPr lang="en-US" sz="3100" b="1" dirty="0">
                <a:solidFill>
                  <a:srgbClr val="00B0F0"/>
                </a:solidFill>
                <a:latin typeface="Arial Black" panose="020B0A04020102020204" pitchFamily="34" charset="0"/>
              </a:rPr>
            </a:br>
            <a:endParaRPr lang="en-US" sz="3100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20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nline Payment Fraud Detection">
            <a:extLst>
              <a:ext uri="{FF2B5EF4-FFF2-40B4-BE49-F238E27FC236}">
                <a16:creationId xmlns:a16="http://schemas.microsoft.com/office/drawing/2014/main" id="{2FA10FD7-7F9F-152C-892E-7B127D5A6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9" y="-34246"/>
            <a:ext cx="12162622" cy="689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90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AB64A-356D-10C4-BF5F-A92B5BD4F307}"/>
              </a:ext>
            </a:extLst>
          </p:cNvPr>
          <p:cNvSpPr txBox="1"/>
          <p:nvPr/>
        </p:nvSpPr>
        <p:spPr>
          <a:xfrm>
            <a:off x="2071172" y="1002535"/>
            <a:ext cx="989314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 </a:t>
            </a:r>
            <a:r>
              <a:rPr lang="en-US" sz="4000" b="1" dirty="0">
                <a:solidFill>
                  <a:srgbClr val="00B0F0"/>
                </a:solidFill>
              </a:rPr>
              <a:t>Introduction</a:t>
            </a:r>
          </a:p>
          <a:p>
            <a:pPr algn="ctr"/>
            <a:endParaRPr lang="en-US" sz="2800" b="1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Online payments are increasing rapidly worldwide.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Fraudulent transactions cause huge </a:t>
            </a:r>
          </a:p>
          <a:p>
            <a:r>
              <a:rPr lang="en-US" sz="2800" dirty="0"/>
              <a:t>    financial losses.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Manual fraud detection is difficult and time-consuming.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Machine Learning helps in automatic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294448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1ECCD-CA4C-8930-60B4-DA5B3142AEB9}"/>
              </a:ext>
            </a:extLst>
          </p:cNvPr>
          <p:cNvSpPr txBox="1"/>
          <p:nvPr/>
        </p:nvSpPr>
        <p:spPr>
          <a:xfrm>
            <a:off x="2159306" y="661011"/>
            <a:ext cx="100326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600" b="1" dirty="0">
                <a:latin typeface="Arial Black" panose="020B0A04020102020204" pitchFamily="34" charset="0"/>
              </a:rPr>
              <a:t>Problem Statement</a:t>
            </a:r>
          </a:p>
          <a:p>
            <a:endParaRPr lang="en-US" sz="3200" b="1" dirty="0">
              <a:latin typeface="Arial Black" panose="020B0A040201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Detect fraudulent transactions in online payment systems.</a:t>
            </a:r>
          </a:p>
          <a:p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Classify transactions as:</a:t>
            </a:r>
          </a:p>
          <a:p>
            <a:r>
              <a:rPr lang="en-US" sz="3200" dirty="0"/>
              <a:t>         Legitimate (0)</a:t>
            </a:r>
          </a:p>
          <a:p>
            <a:r>
              <a:rPr lang="en-US" sz="3200" dirty="0"/>
              <a:t>         Fraudulent (1)</a:t>
            </a:r>
          </a:p>
          <a:p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Improve security and reduce financial risks.</a:t>
            </a:r>
          </a:p>
        </p:txBody>
      </p:sp>
    </p:spTree>
    <p:extLst>
      <p:ext uri="{BB962C8B-B14F-4D97-AF65-F5344CB8AC3E}">
        <p14:creationId xmlns:p14="http://schemas.microsoft.com/office/powerpoint/2010/main" val="349415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FB7210-9C96-BB13-8977-704A2745D6F0}"/>
              </a:ext>
            </a:extLst>
          </p:cNvPr>
          <p:cNvSpPr txBox="1"/>
          <p:nvPr/>
        </p:nvSpPr>
        <p:spPr>
          <a:xfrm>
            <a:off x="2324559" y="1002536"/>
            <a:ext cx="92982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Project Objectives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Build a Machine Learning model for fraud detection.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 data preprocessing and feature scaling.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Train and test the model using transaction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Deploy the model using Flask web application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862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25EF0A-00F5-8333-5354-383E881920FE}"/>
              </a:ext>
            </a:extLst>
          </p:cNvPr>
          <p:cNvSpPr txBox="1"/>
          <p:nvPr/>
        </p:nvSpPr>
        <p:spPr>
          <a:xfrm>
            <a:off x="2346593" y="187287"/>
            <a:ext cx="777790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>
              <a:latin typeface="Arial Black" panose="020B0A04020102020204" pitchFamily="34" charset="0"/>
            </a:endParaRPr>
          </a:p>
          <a:p>
            <a:r>
              <a:rPr lang="en-US" sz="3200" b="1" dirty="0">
                <a:latin typeface="Arial Black" panose="020B0A04020102020204" pitchFamily="34" charset="0"/>
              </a:rPr>
              <a:t>Technologies Used</a:t>
            </a:r>
          </a:p>
          <a:p>
            <a:endParaRPr lang="en-US" sz="3200" b="1" dirty="0">
              <a:latin typeface="Arial Black" panose="020B0A04020102020204" pitchFamily="34" charset="0"/>
            </a:endParaRPr>
          </a:p>
          <a:p>
            <a:endParaRPr lang="en-US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Python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Pandas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NumPy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Matplotlib / Seaborn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Scikit-learn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Flask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Bootstrap</a:t>
            </a:r>
          </a:p>
        </p:txBody>
      </p:sp>
    </p:spTree>
    <p:extLst>
      <p:ext uri="{BB962C8B-B14F-4D97-AF65-F5344CB8AC3E}">
        <p14:creationId xmlns:p14="http://schemas.microsoft.com/office/powerpoint/2010/main" val="287814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aud Detection Using Machine Learning in Banking">
            <a:extLst>
              <a:ext uri="{FF2B5EF4-FFF2-40B4-BE49-F238E27FC236}">
                <a16:creationId xmlns:a16="http://schemas.microsoft.com/office/drawing/2014/main" id="{4E878C64-AF23-A763-0C35-41303335F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555" y="0"/>
            <a:ext cx="126731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12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0E3A8-A61F-97CA-981B-98D7EC94F7E0}"/>
              </a:ext>
            </a:extLst>
          </p:cNvPr>
          <p:cNvSpPr txBox="1"/>
          <p:nvPr/>
        </p:nvSpPr>
        <p:spPr>
          <a:xfrm>
            <a:off x="2423711" y="705081"/>
            <a:ext cx="955162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Dataset Information</a:t>
            </a:r>
          </a:p>
          <a:p>
            <a:pPr>
              <a:buNone/>
            </a:pPr>
            <a:endParaRPr lang="en-US" sz="2800" b="1" dirty="0"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Credit Card Transaction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Contains transaction details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V1 to V28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Target Variable: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Class = 0 (Normal)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Class = 1 (Fraud)</a:t>
            </a:r>
          </a:p>
        </p:txBody>
      </p:sp>
    </p:spTree>
    <p:extLst>
      <p:ext uri="{BB962C8B-B14F-4D97-AF65-F5344CB8AC3E}">
        <p14:creationId xmlns:p14="http://schemas.microsoft.com/office/powerpoint/2010/main" val="154944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76DDEB-FBE0-F027-AA0F-6D5956328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2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4D419-1E54-F787-9F49-657129394FD5}"/>
              </a:ext>
            </a:extLst>
          </p:cNvPr>
          <p:cNvSpPr txBox="1"/>
          <p:nvPr/>
        </p:nvSpPr>
        <p:spPr>
          <a:xfrm>
            <a:off x="2291508" y="771181"/>
            <a:ext cx="908891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Data Preprocessing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Checked for missing values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Performed feature scaling using Standard Scaler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Split dataset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80% Training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20% Testing Data</a:t>
            </a:r>
          </a:p>
          <a:p>
            <a:pPr lvl="1"/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Balanced dataset if required</a:t>
            </a:r>
          </a:p>
        </p:txBody>
      </p:sp>
    </p:spTree>
    <p:extLst>
      <p:ext uri="{BB962C8B-B14F-4D97-AF65-F5344CB8AC3E}">
        <p14:creationId xmlns:p14="http://schemas.microsoft.com/office/powerpoint/2010/main" val="27304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BB1A99-7AFB-D02C-B881-B4EE47399624}"/>
              </a:ext>
            </a:extLst>
          </p:cNvPr>
          <p:cNvSpPr txBox="1"/>
          <p:nvPr/>
        </p:nvSpPr>
        <p:spPr>
          <a:xfrm>
            <a:off x="2500829" y="308472"/>
            <a:ext cx="939738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Exploratory Data Analysis</a:t>
            </a:r>
          </a:p>
          <a:p>
            <a:endParaRPr lang="en-US" sz="3600" b="1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Analyzed fraud vs normal transaction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Visualized transaction amount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Observed fraud patterns in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6D30F-F1B8-E29D-8A98-EDA1C3F89965}"/>
              </a:ext>
            </a:extLst>
          </p:cNvPr>
          <p:cNvSpPr txBox="1"/>
          <p:nvPr/>
        </p:nvSpPr>
        <p:spPr>
          <a:xfrm>
            <a:off x="3047082" y="3429000"/>
            <a:ext cx="843249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Model Building</a:t>
            </a:r>
          </a:p>
          <a:p>
            <a:endParaRPr lang="en-US" sz="3600" b="1" dirty="0">
              <a:latin typeface="Arial Black" panose="020B0A040201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Algorithm Used: Logistic Regression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Trained model using training data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Predicted results on test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 data Saved model using Pickle</a:t>
            </a:r>
          </a:p>
        </p:txBody>
      </p:sp>
    </p:spTree>
    <p:extLst>
      <p:ext uri="{BB962C8B-B14F-4D97-AF65-F5344CB8AC3E}">
        <p14:creationId xmlns:p14="http://schemas.microsoft.com/office/powerpoint/2010/main" val="373552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8B90B8-13E3-8FF3-D9E0-D10A3B730525}"/>
              </a:ext>
            </a:extLst>
          </p:cNvPr>
          <p:cNvSpPr txBox="1"/>
          <p:nvPr/>
        </p:nvSpPr>
        <p:spPr>
          <a:xfrm>
            <a:off x="3048916" y="451692"/>
            <a:ext cx="8959469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3200" b="1" dirty="0">
                <a:latin typeface="Arial Black" panose="020B0A04020102020204" pitchFamily="34" charset="0"/>
              </a:rPr>
              <a:t>Model Evaluation</a:t>
            </a:r>
          </a:p>
          <a:p>
            <a:endParaRPr lang="en-US" sz="3200" b="1" dirty="0">
              <a:latin typeface="Arial Black" panose="020B0A040201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Accuracy Score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Confusion Matrix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Precision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Recall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F1-Score</a:t>
            </a:r>
          </a:p>
          <a:p>
            <a:r>
              <a:rPr lang="en-US" sz="2400" dirty="0"/>
              <a:t>These metrics help evaluate model performance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F9E21-A263-1ED2-CF71-30C41C43F987}"/>
              </a:ext>
            </a:extLst>
          </p:cNvPr>
          <p:cNvSpPr txBox="1"/>
          <p:nvPr/>
        </p:nvSpPr>
        <p:spPr>
          <a:xfrm rot="10800000" flipV="1">
            <a:off x="2820318" y="3341194"/>
            <a:ext cx="59463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>
              <a:latin typeface="Arial Black" panose="020B0A04020102020204" pitchFamily="34" charset="0"/>
            </a:endParaRPr>
          </a:p>
          <a:p>
            <a:r>
              <a:rPr lang="en-US" sz="3200" b="1" dirty="0">
                <a:latin typeface="Arial Black" panose="020B0A04020102020204" pitchFamily="34" charset="0"/>
              </a:rPr>
              <a:t>System Architecture</a:t>
            </a:r>
          </a:p>
          <a:p>
            <a:endParaRPr lang="en-US" sz="3200" b="1" dirty="0">
              <a:latin typeface="Arial Black" panose="020B0A04020102020204" pitchFamily="34" charset="0"/>
            </a:endParaRPr>
          </a:p>
          <a:p>
            <a:r>
              <a:rPr lang="en-US" sz="2400" dirty="0"/>
              <a:t>1.User enters transaction details</a:t>
            </a:r>
          </a:p>
          <a:p>
            <a:r>
              <a:rPr lang="en-US" sz="2400" dirty="0"/>
              <a:t>2. Data sent to ML model</a:t>
            </a:r>
          </a:p>
          <a:p>
            <a:r>
              <a:rPr lang="en-US" sz="2400" dirty="0"/>
              <a:t>3. Model predicts fraud or legitimate</a:t>
            </a:r>
          </a:p>
          <a:p>
            <a:r>
              <a:rPr lang="en-US" sz="2400" dirty="0"/>
              <a:t>4. Result displayed on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774464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D552E6-7452-A511-E186-D73251F83B45}"/>
              </a:ext>
            </a:extLst>
          </p:cNvPr>
          <p:cNvSpPr txBox="1"/>
          <p:nvPr/>
        </p:nvSpPr>
        <p:spPr>
          <a:xfrm>
            <a:off x="1696598" y="826264"/>
            <a:ext cx="1066432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Results</a:t>
            </a:r>
          </a:p>
          <a:p>
            <a:endParaRPr lang="en-US" sz="3600" b="1" dirty="0">
              <a:latin typeface="Arial Black" panose="020B0A040201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Model successfully detected fraudulent transactions</a:t>
            </a:r>
          </a:p>
          <a:p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Improved security of online payments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Reduced financial losses</a:t>
            </a:r>
          </a:p>
        </p:txBody>
      </p:sp>
    </p:spTree>
    <p:extLst>
      <p:ext uri="{BB962C8B-B14F-4D97-AF65-F5344CB8AC3E}">
        <p14:creationId xmlns:p14="http://schemas.microsoft.com/office/powerpoint/2010/main" val="374940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CE11E6-CE7D-7726-15DE-DDE4FAB1C6C8}"/>
              </a:ext>
            </a:extLst>
          </p:cNvPr>
          <p:cNvSpPr txBox="1"/>
          <p:nvPr/>
        </p:nvSpPr>
        <p:spPr>
          <a:xfrm>
            <a:off x="3018623" y="1009087"/>
            <a:ext cx="803129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3600" b="1" dirty="0"/>
              <a:t>Future Enhancements</a:t>
            </a:r>
          </a:p>
          <a:p>
            <a:endParaRPr lang="en-US" sz="36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Implement Random Forest or </a:t>
            </a:r>
            <a:r>
              <a:rPr lang="en-US" sz="2800" dirty="0" err="1"/>
              <a:t>XGBoost</a:t>
            </a:r>
            <a:endParaRPr lang="en-US" sz="2800" dirty="0"/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Use Deep Learning 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Real-time fraud monitoring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Deploy on cloud platforms</a:t>
            </a:r>
          </a:p>
        </p:txBody>
      </p:sp>
    </p:spTree>
    <p:extLst>
      <p:ext uri="{BB962C8B-B14F-4D97-AF65-F5344CB8AC3E}">
        <p14:creationId xmlns:p14="http://schemas.microsoft.com/office/powerpoint/2010/main" val="274854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6FB204-36D9-9DAE-0838-80711EBCD3A0}"/>
              </a:ext>
            </a:extLst>
          </p:cNvPr>
          <p:cNvSpPr txBox="1"/>
          <p:nvPr/>
        </p:nvSpPr>
        <p:spPr>
          <a:xfrm>
            <a:off x="2401677" y="749147"/>
            <a:ext cx="970586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Conclusion</a:t>
            </a:r>
          </a:p>
          <a:p>
            <a:endParaRPr lang="en-US" sz="3600" b="1" dirty="0">
              <a:solidFill>
                <a:srgbClr val="7030A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Machine Learning improves fraud detection accuracy.</a:t>
            </a:r>
          </a:p>
          <a:p>
            <a:endParaRPr lang="en-US" sz="2800" dirty="0"/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Helps financial institutions prevent fraud.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Ensures secure and trustworthy online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6381349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90</TotalTime>
  <Words>370</Words>
  <Application>Microsoft Office PowerPoint</Application>
  <PresentationFormat>Widescreen</PresentationFormat>
  <Paragraphs>116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Black</vt:lpstr>
      <vt:lpstr>Calibri</vt:lpstr>
      <vt:lpstr>Cambria</vt:lpstr>
      <vt:lpstr>Century Gothic</vt:lpstr>
      <vt:lpstr>Courier New</vt:lpstr>
      <vt:lpstr>Wingdings</vt:lpstr>
      <vt:lpstr>Wingdings 3</vt:lpstr>
      <vt:lpstr>Wisp</vt:lpstr>
      <vt:lpstr>COLLEGE NAME: Ashoka Women’s Engineering College  DEPARTMENT: Electrical and Electrical Engineering  TITLE: Online Payments Fraud Detection Using Machine Learning  Submitted by: G. Supraja       Under the Guidance of: Mrs. Hari Priya               Academic Year:2025-2026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Supraja Giddamma Gari</dc:creator>
  <cp:lastModifiedBy>Supraja Giddamma Gari</cp:lastModifiedBy>
  <cp:revision>2</cp:revision>
  <dcterms:created xsi:type="dcterms:W3CDTF">2026-02-24T03:02:06Z</dcterms:created>
  <dcterms:modified xsi:type="dcterms:W3CDTF">2026-02-25T02:20:12Z</dcterms:modified>
</cp:coreProperties>
</file>